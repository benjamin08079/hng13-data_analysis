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RobotoMono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19" Type="http://schemas.openxmlformats.org/officeDocument/2006/relationships/font" Target="fonts/Nunito-boldItalic.fntdata"/><Relationship Id="rId18" Type="http://schemas.openxmlformats.org/officeDocument/2006/relationships/font" Target="fonts/Nuni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e2cd82fc6_0_1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e2cd82fc6_0_1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e2cd82fc6_0_1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8e2cd82fc6_0_1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e2cd82fc6_0_1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e2cd82fc6_0_1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e2cd82fc6_0_1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e2cd82fc6_0_1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e2cd82fc6_0_1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e2cd82fc6_0_1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e2cd82fc6_0_1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e2cd82fc6_0_1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e2cd82fc6_0_1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8e2cd82fc6_0_1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e2cd82fc6_0_1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8e2cd82fc6_0_1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e2cd82fc6_0_1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8e2cd82fc6_0_1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kaggle.com/datasets/ahmedmohamed2003/retail-store-sales-dirty-for-data-clean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title"/>
          </p:nvPr>
        </p:nvSpPr>
        <p:spPr>
          <a:xfrm>
            <a:off x="333375" y="238125"/>
            <a:ext cx="8556600" cy="9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</a:t>
            </a:r>
            <a:r>
              <a:rPr lang="en" sz="2000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Anongo Benjamin Zahemen</a:t>
            </a:r>
            <a:br>
              <a:rPr lang="en" sz="2000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2000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Name:</a:t>
            </a:r>
            <a:r>
              <a:rPr lang="en" sz="2000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000">
                <a:solidFill>
                  <a:srgbClr val="202124"/>
                </a:solidFill>
                <a:highlight>
                  <a:srgbClr val="F1F3F4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retail_store_sales.csv</a:t>
            </a:r>
            <a:endParaRPr sz="2000">
              <a:solidFill>
                <a:srgbClr val="20212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of data:</a:t>
            </a:r>
            <a:r>
              <a:rPr lang="en" sz="2000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Kaggle</a:t>
            </a:r>
            <a:endParaRPr sz="2000">
              <a:solidFill>
                <a:srgbClr val="20212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0212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description:</a:t>
            </a:r>
            <a:r>
              <a:rPr lang="en" sz="2000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000">
                <a:solidFill>
                  <a:srgbClr val="202124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Retail Store Sales dataset contains 12,575 rows of synthetic data representing sales transactions from a retail store. The dataset includes eight product categories with 25 items per category, each having static prices. It is designed to simulate real-world sales data.</a:t>
            </a:r>
            <a:endParaRPr b="1" sz="1550">
              <a:solidFill>
                <a:srgbClr val="2021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202124"/>
              </a:buClr>
              <a:buSzPct val="100000"/>
              <a:buFont typeface="Inter"/>
              <a:buChar char="●"/>
            </a:pPr>
            <a:r>
              <a:rPr b="1" lang="en" sz="1550">
                <a:solidFill>
                  <a:srgbClr val="202124"/>
                </a:solidFill>
                <a:latin typeface="Inter"/>
                <a:ea typeface="Inter"/>
                <a:cs typeface="Inter"/>
                <a:sym typeface="Inter"/>
              </a:rPr>
              <a:t>Number of Rows:</a:t>
            </a:r>
            <a:r>
              <a:rPr lang="en" sz="1550">
                <a:solidFill>
                  <a:srgbClr val="202124"/>
                </a:solidFill>
                <a:latin typeface="Inter"/>
                <a:ea typeface="Inter"/>
                <a:cs typeface="Inter"/>
                <a:sym typeface="Inter"/>
              </a:rPr>
              <a:t> 12,575</a:t>
            </a:r>
            <a:endParaRPr sz="1550">
              <a:solidFill>
                <a:srgbClr val="2021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ct val="100000"/>
              <a:buFont typeface="Inter"/>
              <a:buChar char="●"/>
            </a:pPr>
            <a:r>
              <a:rPr b="1" lang="en" sz="1550">
                <a:solidFill>
                  <a:srgbClr val="202124"/>
                </a:solidFill>
                <a:latin typeface="Inter"/>
                <a:ea typeface="Inter"/>
                <a:cs typeface="Inter"/>
                <a:sym typeface="Inter"/>
              </a:rPr>
              <a:t>Number of Columns:</a:t>
            </a:r>
            <a:r>
              <a:rPr lang="en" sz="1550">
                <a:solidFill>
                  <a:srgbClr val="202124"/>
                </a:solidFill>
                <a:latin typeface="Inter"/>
                <a:ea typeface="Inter"/>
                <a:cs typeface="Inter"/>
                <a:sym typeface="Inter"/>
              </a:rPr>
              <a:t> 11</a:t>
            </a:r>
            <a:endParaRPr sz="1550">
              <a:solidFill>
                <a:srgbClr val="2021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ct val="100000"/>
              <a:buFont typeface="Inter"/>
              <a:buChar char="●"/>
            </a:pPr>
            <a:r>
              <a:rPr b="1" lang="en" sz="1550">
                <a:solidFill>
                  <a:srgbClr val="202124"/>
                </a:solidFill>
                <a:latin typeface="Inter"/>
                <a:ea typeface="Inter"/>
                <a:cs typeface="Inter"/>
                <a:sym typeface="Inter"/>
              </a:rPr>
              <a:t>Data URL </a:t>
            </a:r>
            <a:r>
              <a:rPr lang="en" sz="1550">
                <a:solidFill>
                  <a:srgbClr val="202124"/>
                </a:solidFill>
                <a:latin typeface="Inter"/>
                <a:ea typeface="Inter"/>
                <a:cs typeface="Inter"/>
                <a:sym typeface="Inter"/>
              </a:rPr>
              <a:t>link:</a:t>
            </a:r>
            <a:r>
              <a:rPr lang="en" sz="155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https://www.kaggle.com/datasets/ahmedmohamed2003/retail-store-sales-dirty-for-data-cleaning</a:t>
            </a:r>
            <a:endParaRPr sz="1550">
              <a:solidFill>
                <a:srgbClr val="2021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ct val="100000"/>
              <a:buFont typeface="Inter"/>
              <a:buChar char="●"/>
            </a:pPr>
            <a:r>
              <a:rPr b="1" lang="en" sz="1550">
                <a:solidFill>
                  <a:srgbClr val="202124"/>
                </a:solidFill>
                <a:latin typeface="Inter"/>
                <a:ea typeface="Inter"/>
                <a:cs typeface="Inter"/>
                <a:sym typeface="Inter"/>
              </a:rPr>
              <a:t>Data source:</a:t>
            </a:r>
            <a:r>
              <a:rPr lang="en" sz="1550">
                <a:solidFill>
                  <a:srgbClr val="202124"/>
                </a:solidFill>
                <a:latin typeface="Inter"/>
                <a:ea typeface="Inter"/>
                <a:cs typeface="Inter"/>
                <a:sym typeface="Inter"/>
              </a:rPr>
              <a:t> Kaggle</a:t>
            </a:r>
            <a:endParaRPr sz="1550">
              <a:solidFill>
                <a:srgbClr val="2021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3C40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650">
              <a:solidFill>
                <a:srgbClr val="3C40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50">
              <a:solidFill>
                <a:srgbClr val="3C4043"/>
              </a:solidFill>
              <a:highlight>
                <a:srgbClr val="F1F3F4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C4043"/>
              </a:solidFill>
              <a:highlight>
                <a:srgbClr val="F1F3F4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C4043"/>
              </a:solidFill>
              <a:highlight>
                <a:srgbClr val="F1F3F4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619125" y="254000"/>
            <a:ext cx="7705500" cy="4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Columns: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4"/>
          <p:cNvSpPr txBox="1"/>
          <p:nvPr>
            <p:ph idx="1" type="body"/>
          </p:nvPr>
        </p:nvSpPr>
        <p:spPr>
          <a:xfrm>
            <a:off x="333375" y="698500"/>
            <a:ext cx="8143800" cy="41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dataset has 11 columns: </a:t>
            </a: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 ID, Customer ID, Category, Item, Price Per Unit, Quantity, Total Spent, Payment Method, Location, Transaction Date,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Discount Applied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raw dataset contained </a:t>
            </a: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7,229 empty cells,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the most affected columns being Discount Applied, Item, and Price per Unit.</a:t>
            </a:r>
            <a:b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and inconsistent data were handled by replacing empty cells with zeros and using logical formulas to fill or calculate missing values in </a:t>
            </a: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 Per Unit, Quantity, Total Spent, and Discount Applied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Typographical inconsistencies were corrected by standardizing text formatting. No outliers were found, indicating the dataset is clean, consistent, and ready for analysis.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574550" y="285750"/>
            <a:ext cx="77502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Questions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273600" y="779725"/>
            <a:ext cx="8577000" cy="40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(1.) </a:t>
            </a:r>
            <a:r>
              <a:rPr lang="en" sz="7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Which product categories generate the highest total sales revenue, and how does this vary across locations?</a:t>
            </a:r>
            <a:endParaRPr sz="72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(2.) </a:t>
            </a:r>
            <a:r>
              <a:rPr lang="en" sz="7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How does the application of discounts affect total spending and sales quantity?</a:t>
            </a:r>
            <a:endParaRPr sz="72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(3.)</a:t>
            </a:r>
            <a:r>
              <a:rPr lang="en" sz="7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What payment methods are most commonly used by customers, and do they vary by location or category?</a:t>
            </a:r>
            <a:endParaRPr sz="72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Analysis </a:t>
            </a:r>
            <a:r>
              <a:rPr b="1" lang="en" sz="7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Method</a:t>
            </a:r>
            <a:endParaRPr b="1" sz="72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categories vs. total sales - </a:t>
            </a:r>
            <a:r>
              <a:rPr b="1" lang="en" sz="7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Analysis</a:t>
            </a:r>
            <a:br>
              <a:rPr b="1" lang="en" sz="7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7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 of discounts on purchases and revenue -</a:t>
            </a:r>
            <a:r>
              <a:rPr b="1" lang="en" sz="7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Analysis</a:t>
            </a:r>
            <a:br>
              <a:rPr lang="en" sz="7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Payment methods by location - </a:t>
            </a:r>
            <a:r>
              <a:rPr b="1" lang="en" sz="7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Analysis</a:t>
            </a:r>
            <a:endParaRPr b="1" sz="7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title"/>
          </p:nvPr>
        </p:nvSpPr>
        <p:spPr>
          <a:xfrm>
            <a:off x="273600" y="273600"/>
            <a:ext cx="8051400" cy="6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Q1.Table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6"/>
          <p:cNvSpPr txBox="1"/>
          <p:nvPr>
            <p:ph idx="1" type="body"/>
          </p:nvPr>
        </p:nvSpPr>
        <p:spPr>
          <a:xfrm>
            <a:off x="273450" y="930200"/>
            <a:ext cx="8604600" cy="38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16" title="Screenshot 2025-10-18 0521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675" y="1313225"/>
            <a:ext cx="8723376" cy="344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328300" y="259900"/>
            <a:ext cx="7996500" cy="6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Q1. 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Summary(charts)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601900" y="902800"/>
            <a:ext cx="7722900" cy="35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900" y="902800"/>
            <a:ext cx="7722900" cy="35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205200" y="232550"/>
            <a:ext cx="8119800" cy="5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Q2. Table and charts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8"/>
          <p:cNvSpPr txBox="1"/>
          <p:nvPr>
            <p:ph idx="1" type="body"/>
          </p:nvPr>
        </p:nvSpPr>
        <p:spPr>
          <a:xfrm>
            <a:off x="287275" y="930200"/>
            <a:ext cx="8563500" cy="3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                                                                                                                                                                                     </a:t>
            </a:r>
            <a:endParaRPr/>
          </a:p>
        </p:txBody>
      </p:sp>
      <p:pic>
        <p:nvPicPr>
          <p:cNvPr id="161" name="Google Shape;161;p18" title="Screenshot 2025-10-18 0552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175" y="1094350"/>
            <a:ext cx="4263875" cy="14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7288" y="2118394"/>
            <a:ext cx="4229100" cy="2614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/>
          <p:nvPr>
            <p:ph type="title"/>
          </p:nvPr>
        </p:nvSpPr>
        <p:spPr>
          <a:xfrm>
            <a:off x="314625" y="300950"/>
            <a:ext cx="8010000" cy="6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Q3 Table and charts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9"/>
          <p:cNvSpPr txBox="1"/>
          <p:nvPr>
            <p:ph idx="1" type="body"/>
          </p:nvPr>
        </p:nvSpPr>
        <p:spPr>
          <a:xfrm>
            <a:off x="177825" y="957650"/>
            <a:ext cx="8645700" cy="3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                                                                                                                                 </a:t>
            </a:r>
            <a:endParaRPr/>
          </a:p>
        </p:txBody>
      </p:sp>
      <p:pic>
        <p:nvPicPr>
          <p:cNvPr id="169" name="Google Shape;169;p19" title="Screenshot 2025-10-18 0604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825" y="1860425"/>
            <a:ext cx="3802925" cy="246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0175" y="1860425"/>
            <a:ext cx="4733351" cy="30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246225" y="246225"/>
            <a:ext cx="8078400" cy="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of my findings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0"/>
          <p:cNvSpPr txBox="1"/>
          <p:nvPr>
            <p:ph idx="1" type="body"/>
          </p:nvPr>
        </p:nvSpPr>
        <p:spPr>
          <a:xfrm>
            <a:off x="123125" y="697650"/>
            <a:ext cx="8754900" cy="41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(Q1) </a:t>
            </a:r>
            <a:r>
              <a:rPr lang="en" sz="56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Online sales ($791,401) are slightly higher than in-store sales ($760,670). The</a:t>
            </a:r>
            <a:r>
              <a:rPr b="1" lang="en" sz="56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Butchers</a:t>
            </a:r>
            <a:r>
              <a:rPr lang="en" sz="56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category recorded the highest total sales ($208,118), while </a:t>
            </a:r>
            <a:r>
              <a:rPr b="1" lang="en" sz="56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Milk Products </a:t>
            </a:r>
            <a:r>
              <a:rPr lang="en" sz="56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had the lowest ($180,112).</a:t>
            </a:r>
            <a:endParaRPr sz="56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6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Why it matters: </a:t>
            </a:r>
            <a:r>
              <a:rPr lang="en" sz="56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This shows that online sales channels slightly outperform physical stores, suggesting stronger customer engagement and convenience in online shopping.</a:t>
            </a:r>
            <a:endParaRPr sz="56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6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Conclusion: </a:t>
            </a:r>
            <a:r>
              <a:rPr lang="en" sz="56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retail store should continue strengthening its online platform while maintaining in-store operations for high-performing categories like Butchers and Electric household essentials.</a:t>
            </a:r>
            <a:endParaRPr sz="56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(Q2)</a:t>
            </a:r>
            <a:r>
              <a:rPr b="1" lang="en" sz="56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56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Transactions without discounts generated higher total sales ($1,027,627.50) and quantities (44,037) compared to discounted sales ($524,443.50 and 22,239).</a:t>
            </a:r>
            <a:endParaRPr sz="56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6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Why it matters: </a:t>
            </a:r>
            <a:r>
              <a:rPr lang="en" sz="56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This indicates that offering discounts did not necessarily boost sales or revenue — customers purchased more even without discounts.</a:t>
            </a:r>
            <a:endParaRPr sz="56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6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Conclusion: </a:t>
            </a:r>
            <a:r>
              <a:rPr lang="en" sz="56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Discounts may not be driving additional sales and could be reducing profit margins. The store should review its discount strategy to focus on high-impact promotions or product-specific discounts.</a:t>
            </a:r>
            <a:endParaRPr sz="56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5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232550" y="259900"/>
            <a:ext cx="8092200" cy="9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(Q3)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232550" y="779725"/>
            <a:ext cx="8563200" cy="39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Cash is the most used payment method ($537,710), followed closely by Digital Wallets and Credit Cards. Online purchases ($791,401) slightly exceed in-store sales ($760,670). This shows customers value both cash and digital payment options.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Why it matters:</a:t>
            </a: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Understanding these preferences helps improve payment flexibility and customer experience.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Conclusion:</a:t>
            </a: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Maintain cash options but promote digital wallets to enhance convenience and support future growth.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232550" y="218875"/>
            <a:ext cx="8092200" cy="7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and future work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2"/>
          <p:cNvSpPr txBox="1"/>
          <p:nvPr>
            <p:ph idx="1" type="body"/>
          </p:nvPr>
        </p:nvSpPr>
        <p:spPr>
          <a:xfrm>
            <a:off x="300950" y="1149075"/>
            <a:ext cx="8023800" cy="32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time period restricts trend and seasonality analysis 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 more dates.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Sample may not fully represent all customers → expand dataset.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Missing variables (demographics, store details) → collect additional data.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entry errors affect accuracy → ensure clean, validated records.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factors like promotions not considered → analyze impact of marketing and seasonal events.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